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4" d="100"/>
          <a:sy n="84" d="100"/>
        </p:scale>
        <p:origin x="65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566B3-B7D1-4A8B-89F5-E6B3972E5DF7}" type="datetimeFigureOut">
              <a:rPr lang="en-IN" smtClean="0"/>
              <a:t>25-Nov-2025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27CD45-704A-4CFA-B190-0282A2F521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07232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566B3-B7D1-4A8B-89F5-E6B3972E5DF7}" type="datetimeFigureOut">
              <a:rPr lang="en-IN" smtClean="0"/>
              <a:t>25-Nov-2025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27CD45-704A-4CFA-B190-0282A2F521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49288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566B3-B7D1-4A8B-89F5-E6B3972E5DF7}" type="datetimeFigureOut">
              <a:rPr lang="en-IN" smtClean="0"/>
              <a:t>25-Nov-2025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27CD45-704A-4CFA-B190-0282A2F521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05975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566B3-B7D1-4A8B-89F5-E6B3972E5DF7}" type="datetimeFigureOut">
              <a:rPr lang="en-IN" smtClean="0"/>
              <a:t>25-Nov-2025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27CD45-704A-4CFA-B190-0282A2F521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72354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566B3-B7D1-4A8B-89F5-E6B3972E5DF7}" type="datetimeFigureOut">
              <a:rPr lang="en-IN" smtClean="0"/>
              <a:t>25-Nov-2025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27CD45-704A-4CFA-B190-0282A2F521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16848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566B3-B7D1-4A8B-89F5-E6B3972E5DF7}" type="datetimeFigureOut">
              <a:rPr lang="en-IN" smtClean="0"/>
              <a:t>25-Nov-2025</a:t>
            </a:fld>
            <a:endParaRPr lang="en-IN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27CD45-704A-4CFA-B190-0282A2F521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98975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566B3-B7D1-4A8B-89F5-E6B3972E5DF7}" type="datetimeFigureOut">
              <a:rPr lang="en-IN" smtClean="0"/>
              <a:t>25-Nov-2025</a:t>
            </a:fld>
            <a:endParaRPr lang="en-IN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27CD45-704A-4CFA-B190-0282A2F521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43958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566B3-B7D1-4A8B-89F5-E6B3972E5DF7}" type="datetimeFigureOut">
              <a:rPr lang="en-IN" smtClean="0"/>
              <a:t>25-Nov-2025</a:t>
            </a:fld>
            <a:endParaRPr lang="en-IN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27CD45-704A-4CFA-B190-0282A2F521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32742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566B3-B7D1-4A8B-89F5-E6B3972E5DF7}" type="datetimeFigureOut">
              <a:rPr lang="en-IN" smtClean="0"/>
              <a:t>25-Nov-2025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27CD45-704A-4CFA-B190-0282A2F521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39464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566B3-B7D1-4A8B-89F5-E6B3972E5DF7}" type="datetimeFigureOut">
              <a:rPr lang="en-IN" smtClean="0"/>
              <a:t>25-Nov-2025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27CD45-704A-4CFA-B190-0282A2F521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29583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566B3-B7D1-4A8B-89F5-E6B3972E5DF7}" type="datetimeFigureOut">
              <a:rPr lang="en-IN" smtClean="0"/>
              <a:t>25-Nov-2025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27CD45-704A-4CFA-B190-0282A2F521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81361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566B3-B7D1-4A8B-89F5-E6B3972E5DF7}" type="datetimeFigureOut">
              <a:rPr lang="en-IN" smtClean="0"/>
              <a:t>25-Nov-2025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27CD45-704A-4CFA-B190-0282A2F5218E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15125980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566B3-B7D1-4A8B-89F5-E6B3972E5DF7}" type="datetimeFigureOut">
              <a:rPr lang="en-IN" smtClean="0"/>
              <a:t>25-Nov-2025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27CD45-704A-4CFA-B190-0282A2F521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34375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566B3-B7D1-4A8B-89F5-E6B3972E5DF7}" type="datetimeFigureOut">
              <a:rPr lang="en-IN" smtClean="0"/>
              <a:t>25-Nov-2025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27CD45-704A-4CFA-B190-0282A2F521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114147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566B3-B7D1-4A8B-89F5-E6B3972E5DF7}" type="datetimeFigureOut">
              <a:rPr lang="en-IN" smtClean="0"/>
              <a:t>25-Nov-2025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27CD45-704A-4CFA-B190-0282A2F521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17817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566B3-B7D1-4A8B-89F5-E6B3972E5DF7}" type="datetimeFigureOut">
              <a:rPr lang="en-IN" smtClean="0"/>
              <a:t>25-Nov-2025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27CD45-704A-4CFA-B190-0282A2F521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711374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566B3-B7D1-4A8B-89F5-E6B3972E5DF7}" type="datetimeFigureOut">
              <a:rPr lang="en-IN" smtClean="0"/>
              <a:t>25-Nov-2025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27CD45-704A-4CFA-B190-0282A2F521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3798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ABB566B3-B7D1-4A8B-89F5-E6B3972E5DF7}" type="datetimeFigureOut">
              <a:rPr lang="en-IN" smtClean="0"/>
              <a:t>25-Nov-2025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27CD45-704A-4CFA-B190-0282A2F521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185680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52D53C-F402-03AC-0DEB-5D6AC17220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54955" y="0"/>
            <a:ext cx="8825658" cy="3329581"/>
          </a:xfrm>
        </p:spPr>
        <p:txBody>
          <a:bodyPr/>
          <a:lstStyle/>
          <a:p>
            <a:r>
              <a:rPr lang="en-US" sz="5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Secure Cloud Data Governance for Academic Institutions</a:t>
            </a:r>
            <a:endParaRPr lang="en-IN" sz="5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AAE960-592C-A54E-CBDA-8ECF4A0077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54955" y="3634380"/>
            <a:ext cx="8825658" cy="861420"/>
          </a:xfrm>
        </p:spPr>
        <p:txBody>
          <a:bodyPr/>
          <a:lstStyle/>
          <a:p>
            <a:r>
              <a:rPr lang="en-US" b="1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Role-Based Access &amp; Encrypted Student Data in the Cloud</a:t>
            </a:r>
            <a:endParaRPr lang="en-IN" b="1" dirty="0">
              <a:solidFill>
                <a:schemeClr val="accent3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4238C58-7E95-F90D-D11E-BF350A584E6B}"/>
              </a:ext>
            </a:extLst>
          </p:cNvPr>
          <p:cNvSpPr txBox="1"/>
          <p:nvPr/>
        </p:nvSpPr>
        <p:spPr>
          <a:xfrm>
            <a:off x="8476425" y="4495800"/>
            <a:ext cx="300837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TEAM MEMBERS:</a:t>
            </a:r>
          </a:p>
          <a:p>
            <a:endParaRPr lang="en-US" b="1" dirty="0">
              <a:solidFill>
                <a:schemeClr val="accent5">
                  <a:lumMod val="20000"/>
                  <a:lumOff val="8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AutoNum type="arabicPeriod"/>
            </a:pPr>
            <a:r>
              <a:rPr lang="en-US" b="1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Sunil Kumar R</a:t>
            </a:r>
          </a:p>
          <a:p>
            <a:pPr marL="342900" indent="-342900">
              <a:buAutoNum type="arabicPeriod"/>
            </a:pPr>
            <a:r>
              <a:rPr lang="en-US" b="1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Lokeshwaran S</a:t>
            </a:r>
          </a:p>
          <a:p>
            <a:pPr marL="342900" indent="-342900">
              <a:buAutoNum type="arabicPeriod"/>
            </a:pPr>
            <a:r>
              <a:rPr lang="en-US" b="1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Thamilselvan J</a:t>
            </a:r>
            <a:endParaRPr lang="en-IN" b="1" dirty="0">
              <a:solidFill>
                <a:schemeClr val="accent3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586590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5F598D-93C3-C239-F0EF-338874FE9D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5880" y="1889761"/>
            <a:ext cx="8946541" cy="4968239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This Project?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400" dirty="0"/>
              <a:t>Student data is sensitive (grades, personal info).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400" dirty="0"/>
              <a:t>If someone gets access without permission, it can expose private information.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400" dirty="0"/>
              <a:t>Academic institutions need secure and controlled access for students and teachers.</a:t>
            </a:r>
          </a:p>
          <a:p>
            <a:pPr marL="0" indent="0">
              <a:buNone/>
            </a:pP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83931EB-7ECD-C6E6-E8E0-AEE9102497D9}"/>
              </a:ext>
            </a:extLst>
          </p:cNvPr>
          <p:cNvSpPr txBox="1"/>
          <p:nvPr/>
        </p:nvSpPr>
        <p:spPr>
          <a:xfrm>
            <a:off x="646112" y="957882"/>
            <a:ext cx="6184456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endParaRPr lang="en-IN" dirty="0">
              <a:solidFill>
                <a:schemeClr val="accent3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0225658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761768-7467-0BE9-CBE8-597F953735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699606"/>
            <a:ext cx="9404723" cy="763434"/>
          </a:xfrm>
        </p:spPr>
        <p:txBody>
          <a:bodyPr/>
          <a:lstStyle/>
          <a:p>
            <a:r>
              <a:rPr lang="en-IN" sz="3200" b="1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390129-76A2-CF20-8D2D-83601ADBB5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4293" y="1769454"/>
            <a:ext cx="8946541" cy="419548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Goals: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 Role-Based Access Control (RBAC) for students and teachers.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Encrypt sensitive student data using AWS KMS.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Restrict access to sensitive data using S3 bucket policies.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a security demo showing controlled access</a:t>
            </a:r>
          </a:p>
          <a:p>
            <a:pPr marL="0" indent="0"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4889706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76B260-001B-D241-B3F2-EF6713E6D3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21" y="616932"/>
            <a:ext cx="9404723" cy="726858"/>
          </a:xfrm>
        </p:spPr>
        <p:txBody>
          <a:bodyPr/>
          <a:lstStyle/>
          <a:p>
            <a:r>
              <a:rPr lang="en-IN" sz="3200" b="1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Architecture: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526AAF7-76F5-F497-413E-5A636601BE0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51858" y="1343790"/>
            <a:ext cx="1244141" cy="982916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B193751-8E7F-45E1-8370-4B863F3EA9DB}"/>
              </a:ext>
            </a:extLst>
          </p:cNvPr>
          <p:cNvSpPr txBox="1"/>
          <p:nvPr/>
        </p:nvSpPr>
        <p:spPr>
          <a:xfrm>
            <a:off x="4851858" y="2326706"/>
            <a:ext cx="21214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KMS Key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Graphic 7" descr="Graduation cap with solid fill">
            <a:extLst>
              <a:ext uri="{FF2B5EF4-FFF2-40B4-BE49-F238E27FC236}">
                <a16:creationId xmlns:a16="http://schemas.microsoft.com/office/drawing/2014/main" id="{F8BF6642-C710-FC82-2FB9-A0FFE634D69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496382" y="2971742"/>
            <a:ext cx="2282105" cy="228210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535D1CE-7627-CBF4-DB02-0CE54E46B530}"/>
              </a:ext>
            </a:extLst>
          </p:cNvPr>
          <p:cNvSpPr txBox="1"/>
          <p:nvPr/>
        </p:nvSpPr>
        <p:spPr>
          <a:xfrm>
            <a:off x="1967551" y="4924639"/>
            <a:ext cx="222199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“STUDENT”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IAM ROLE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Graphic 11" descr="Classroom with solid fill">
            <a:extLst>
              <a:ext uri="{FF2B5EF4-FFF2-40B4-BE49-F238E27FC236}">
                <a16:creationId xmlns:a16="http://schemas.microsoft.com/office/drawing/2014/main" id="{3CC98470-C541-A805-B8AA-3A43096775B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817624" y="3065261"/>
            <a:ext cx="2095069" cy="2095069"/>
          </a:xfrm>
          <a:prstGeom prst="rect">
            <a:avLst/>
          </a:prstGeom>
        </p:spPr>
      </p:pic>
      <p:pic>
        <p:nvPicPr>
          <p:cNvPr id="9" name="Content Placeholder 4">
            <a:extLst>
              <a:ext uri="{FF2B5EF4-FFF2-40B4-BE49-F238E27FC236}">
                <a16:creationId xmlns:a16="http://schemas.microsoft.com/office/drawing/2014/main" id="{963FE841-DFB4-0D02-4A4C-9AE0C94EF7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9307" y="3666744"/>
            <a:ext cx="553023" cy="436908"/>
          </a:xfrm>
          <a:prstGeom prst="rect">
            <a:avLst/>
          </a:prstGeom>
        </p:spPr>
      </p:pic>
      <p:pic>
        <p:nvPicPr>
          <p:cNvPr id="13" name="Content Placeholder 4">
            <a:extLst>
              <a:ext uri="{FF2B5EF4-FFF2-40B4-BE49-F238E27FC236}">
                <a16:creationId xmlns:a16="http://schemas.microsoft.com/office/drawing/2014/main" id="{D7A3724B-C31C-4847-AE82-B1013C73C4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7478127">
            <a:off x="8982622" y="3482118"/>
            <a:ext cx="618835" cy="488902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538078AE-1EBC-4CA4-6FBA-C439FDC9F7E9}"/>
              </a:ext>
            </a:extLst>
          </p:cNvPr>
          <p:cNvSpPr txBox="1"/>
          <p:nvPr/>
        </p:nvSpPr>
        <p:spPr>
          <a:xfrm>
            <a:off x="8322509" y="5278582"/>
            <a:ext cx="222199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“TEACHER”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IAM ROLE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AEDDC5C4-8534-D1AE-EB96-8756E7CE6FE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1970" y="4231639"/>
            <a:ext cx="1385999" cy="1385999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B71A7965-537C-BE99-0A41-5FEC3D46CB02}"/>
              </a:ext>
            </a:extLst>
          </p:cNvPr>
          <p:cNvSpPr txBox="1"/>
          <p:nvPr/>
        </p:nvSpPr>
        <p:spPr>
          <a:xfrm>
            <a:off x="5283483" y="5786413"/>
            <a:ext cx="22219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S3 Bucket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FE825C07-A741-DCC5-3714-8B026AF38F91}"/>
              </a:ext>
            </a:extLst>
          </p:cNvPr>
          <p:cNvCxnSpPr>
            <a:cxnSpLocks/>
          </p:cNvCxnSpPr>
          <p:nvPr/>
        </p:nvCxnSpPr>
        <p:spPr>
          <a:xfrm>
            <a:off x="3559801" y="4279603"/>
            <a:ext cx="1447140" cy="74959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C4575D43-C307-FF04-745B-70EF10567549}"/>
              </a:ext>
            </a:extLst>
          </p:cNvPr>
          <p:cNvCxnSpPr>
            <a:cxnSpLocks/>
          </p:cNvCxnSpPr>
          <p:nvPr/>
        </p:nvCxnSpPr>
        <p:spPr>
          <a:xfrm flipH="1">
            <a:off x="6631797" y="4379976"/>
            <a:ext cx="1185827" cy="78035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A5FBB17A-9588-E775-5010-D7BCC738D146}"/>
              </a:ext>
            </a:extLst>
          </p:cNvPr>
          <p:cNvCxnSpPr>
            <a:cxnSpLocks/>
          </p:cNvCxnSpPr>
          <p:nvPr/>
        </p:nvCxnSpPr>
        <p:spPr>
          <a:xfrm>
            <a:off x="5733288" y="2852928"/>
            <a:ext cx="0" cy="125986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2105963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015BF5-7211-2E12-C128-78FFA6586D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1065366"/>
            <a:ext cx="9404723" cy="818298"/>
          </a:xfrm>
        </p:spPr>
        <p:txBody>
          <a:bodyPr/>
          <a:lstStyle/>
          <a:p>
            <a:r>
              <a:rPr lang="en-IN" sz="3200" b="1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Tools &amp; Technologies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2F4976-D80F-4A34-4D9F-A8A076BC5E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4293" y="2327058"/>
            <a:ext cx="8946541" cy="4639055"/>
          </a:xfrm>
        </p:spPr>
        <p:txBody>
          <a:bodyPr/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AWS IAM – Role management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AWS KMS – Key management &amp; encryption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Amazon S3 – Data storage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AWS CLI / SDK – Testing access policies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7225552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6E602B-D77F-F04A-8067-F6057243C2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599022"/>
            <a:ext cx="9404723" cy="790866"/>
          </a:xfrm>
        </p:spPr>
        <p:txBody>
          <a:bodyPr/>
          <a:lstStyle/>
          <a:p>
            <a:r>
              <a:rPr lang="en-US" sz="3200" b="1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Expected Outcome</a:t>
            </a:r>
            <a:br>
              <a:rPr lang="en-US" sz="3200" b="1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3200" dirty="0">
              <a:solidFill>
                <a:schemeClr val="accent3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BA6E3F-D275-8BC4-E5F3-2F0E279C5B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4293" y="1682496"/>
            <a:ext cx="8946541" cy="4373879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You Will See: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Students can upload personal data, cannot access sensitive info.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Teachers can view and manage sensitive data.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Encrypted data ensures confidentiality.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Easy security demo for academic governance.</a:t>
            </a:r>
          </a:p>
          <a:p>
            <a:pPr>
              <a:lnSpc>
                <a:spcPct val="150000"/>
              </a:lnSpc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891660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EA4EA1-D86F-7F7A-7E8D-85804A47A2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7426" y="827622"/>
            <a:ext cx="9404723" cy="809154"/>
          </a:xfrm>
        </p:spPr>
        <p:txBody>
          <a:bodyPr/>
          <a:lstStyle/>
          <a:p>
            <a:r>
              <a:rPr lang="en-IN" sz="3200" b="1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BB7557-F4FE-D564-6F8E-AD69043667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85608" y="1911096"/>
            <a:ext cx="8946541" cy="4803647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 student data in the cloud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Enforces role-based access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Demonstrates encrypted storage &amp; governance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Scalable &amp; applicable to real academic institution</a:t>
            </a: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459071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59DEA7-A8A3-48DA-7BC5-D6CA8DC56E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875038"/>
            <a:ext cx="12192000" cy="2337041"/>
          </a:xfrm>
        </p:spPr>
        <p:txBody>
          <a:bodyPr/>
          <a:lstStyle/>
          <a:p>
            <a:pPr algn="ctr"/>
            <a:r>
              <a:rPr lang="en-US" sz="6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You!</a:t>
            </a:r>
            <a:endParaRPr lang="en-IN" sz="6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8143790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Slipstream">
      <a:dk1>
        <a:sysClr val="windowText" lastClr="000000"/>
      </a:dk1>
      <a:lt1>
        <a:sysClr val="window" lastClr="FFFFFF"/>
      </a:lt1>
      <a:dk2>
        <a:srgbClr val="212745"/>
      </a:dk2>
      <a:lt2>
        <a:srgbClr val="B4DCFA"/>
      </a:lt2>
      <a:accent1>
        <a:srgbClr val="4E67C8"/>
      </a:accent1>
      <a:accent2>
        <a:srgbClr val="5ECCF3"/>
      </a:accent2>
      <a:accent3>
        <a:srgbClr val="A7EA52"/>
      </a:accent3>
      <a:accent4>
        <a:srgbClr val="5DCEAF"/>
      </a:accent4>
      <a:accent5>
        <a:srgbClr val="FF8021"/>
      </a:accent5>
      <a:accent6>
        <a:srgbClr val="F14124"/>
      </a:accent6>
      <a:hlink>
        <a:srgbClr val="56C7AA"/>
      </a:hlink>
      <a:folHlink>
        <a:srgbClr val="59A8D1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47</TotalTime>
  <Words>218</Words>
  <Application>Microsoft Office PowerPoint</Application>
  <PresentationFormat>Widescreen</PresentationFormat>
  <Paragraphs>42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Century Gothic</vt:lpstr>
      <vt:lpstr>Times New Roman</vt:lpstr>
      <vt:lpstr>Wingdings</vt:lpstr>
      <vt:lpstr>Wingdings 3</vt:lpstr>
      <vt:lpstr>Ion</vt:lpstr>
      <vt:lpstr>Secure Cloud Data Governance for Academic Institutions</vt:lpstr>
      <vt:lpstr>PowerPoint Presentation</vt:lpstr>
      <vt:lpstr>Objectives</vt:lpstr>
      <vt:lpstr>Architecture:</vt:lpstr>
      <vt:lpstr>Tools &amp; Technologies</vt:lpstr>
      <vt:lpstr>Expected Outcome </vt:lpstr>
      <vt:lpstr>Conclusion 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Sarathy B</dc:creator>
  <cp:lastModifiedBy>Sarathy B</cp:lastModifiedBy>
  <cp:revision>1</cp:revision>
  <dcterms:created xsi:type="dcterms:W3CDTF">2025-11-25T06:35:41Z</dcterms:created>
  <dcterms:modified xsi:type="dcterms:W3CDTF">2025-11-25T07:23:08Z</dcterms:modified>
</cp:coreProperties>
</file>